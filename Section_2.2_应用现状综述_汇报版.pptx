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3"/>
  </p:normalViewPr>
  <p:slideViewPr>
    <p:cSldViewPr snapToGrid="0" snapToObjects="1">
      <p:cViewPr varScale="1">
        <p:scale>
          <a:sx n="147" d="100"/>
          <a:sy n="147" d="100"/>
        </p:scale>
        <p:origin x="10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4188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这一页先交代口径和结论框架。当前 V6 一共包含 1690 个去重案例、3815 条工具记录。我的核心判断是，AI 教育应用已经不是简单的助学独大，而是进入了场景分化、区域分化和产品分化同步发生的新阶段。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这张图的重点不是谁最大，而是谁开始变得更复杂、更可复制。助学规模最大，但助教、助评、助育这些场景的扩散广度正在抬升，说明 AI 应用正从单一学生支持转向教学、评价和治理的多支点演化。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看区域时不能只看东部有多少案例，更要看东部内部是不是已经形成更丰富的场景组合。标准化之后可以看到，东部在助教、助评、助育等结构性场景中的权重更高，而中西部更依赖少数高频通用场景，这就是当前真正的区域分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强调的是场景依附关系。比如助学为什么更集中在小学，不只是因为小学案例多，而是因为小学更适合把模型嵌入到情境化教学和即时反馈里。而助评、助育等场景的学段依赖更集中，说明这些场景还没有进入真正的泛化阶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最后这一页要强调，产品竞争已经不只是总量竞争，而是场景控制力竞争。目前最强的单点控制关系出现在 助研 场景中的 国家智慧教育平台。谁能先在具体场景里形成高占比、强替代性，谁就更有机会从工具走向教育基础设施。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最后落到行动判断。接下来不应继续只看案例数增长，而要看非助学场景是否继续扩张、后发地区是否完成结构升级、以及头部产品是否在具体场景里形成稳定控制力。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62179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800" b="1">
                <a:solidFill>
                  <a:srgbClr val="142A38"/>
                </a:solidFill>
                <a:latin typeface="PingFang SC"/>
              </a:defRPr>
            </a:pPr>
            <a:r>
              <a:t>Section 2.2 教育应用现状综述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969264"/>
            <a:ext cx="658368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400" b="0">
                <a:solidFill>
                  <a:srgbClr val="566775"/>
                </a:solidFill>
                <a:latin typeface="PingFang SC"/>
              </a:defRPr>
            </a:pPr>
            <a:r>
              <a:t>旧版正文风格更新到 V6 口径，并补充结构分化与产品控制力洞见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1828800" cy="100584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883664"/>
            <a:ext cx="153619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566775"/>
                </a:solidFill>
                <a:latin typeface="PingFang SC"/>
              </a:defRPr>
            </a:pPr>
            <a:r>
              <a:t>案例数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48840"/>
            <a:ext cx="153619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200" b="1">
                <a:solidFill>
                  <a:srgbClr val="C75C38"/>
                </a:solidFill>
                <a:latin typeface="PingFang SC"/>
              </a:defRPr>
            </a:pPr>
            <a:r>
              <a:t>1690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737360"/>
            <a:ext cx="1828800" cy="100584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98064" y="1883664"/>
            <a:ext cx="153619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566775"/>
                </a:solidFill>
                <a:latin typeface="PingFang SC"/>
              </a:defRPr>
            </a:pPr>
            <a:r>
              <a:t>工具记录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8064" y="2148840"/>
            <a:ext cx="153619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200" b="1">
                <a:solidFill>
                  <a:srgbClr val="727E54"/>
                </a:solidFill>
                <a:latin typeface="PingFang SC"/>
              </a:defRPr>
            </a:pPr>
            <a:r>
              <a:t>3815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1737360"/>
            <a:ext cx="1828800" cy="100584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91456" y="1883664"/>
            <a:ext cx="153619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566775"/>
                </a:solidFill>
                <a:latin typeface="PingFang SC"/>
              </a:defRPr>
            </a:pPr>
            <a:r>
              <a:t>标准化产品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6" y="2148840"/>
            <a:ext cx="153619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200" b="1">
                <a:solidFill>
                  <a:srgbClr val="C75C38"/>
                </a:solidFill>
                <a:latin typeface="PingFang SC"/>
              </a:defRPr>
            </a:pPr>
            <a:r>
              <a:t>1772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737360"/>
            <a:ext cx="1828800" cy="100584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84848" y="1883664"/>
            <a:ext cx="153619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566775"/>
                </a:solidFill>
                <a:latin typeface="PingFang SC"/>
              </a:defRPr>
            </a:pPr>
            <a:r>
              <a:t>覆盖省份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2148840"/>
            <a:ext cx="153619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200" b="1">
                <a:solidFill>
                  <a:srgbClr val="727E54"/>
                </a:solidFill>
                <a:latin typeface="PingFang SC"/>
              </a:defRPr>
            </a:pPr>
            <a:r>
              <a:t>29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54096"/>
            <a:ext cx="6355080" cy="2633472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328416"/>
            <a:ext cx="5669280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800" b="0">
                <a:solidFill>
                  <a:srgbClr val="142A38"/>
                </a:solidFill>
                <a:latin typeface="PingFang SC"/>
              </a:defRPr>
            </a:pPr>
            <a:r>
              <a:t>这份汇报不再重复总量结论，而是回答三个更关键的问题：</a:t>
            </a:r>
            <a:br/>
            <a:r>
              <a:t>1. 六大场景是不是已经进入结构分化期？</a:t>
            </a:r>
            <a:br/>
            <a:r>
              <a:t>2. 区域差异到底体现为总量差异，还是场景结构差异？</a:t>
            </a:r>
            <a:br/>
            <a:r>
              <a:t>3. 哪些产品已经在不同场景中形成控制力？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365760"/>
            <a:ext cx="7315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一、六大场景已经进入“扩散广度 × 教学复杂度”分化期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498079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566775"/>
                </a:solidFill>
                <a:latin typeface="PingFang SC"/>
              </a:defRPr>
            </a:pPr>
            <a:r>
              <a:t>横轴看覆盖省份数，纵轴看涉及学科数，气泡大小看场景案例规模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207008"/>
            <a:ext cx="658368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ppt_scene_bu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444752"/>
            <a:ext cx="6172200" cy="39862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43216" y="1207008"/>
            <a:ext cx="406908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17536" y="1536192"/>
            <a:ext cx="3520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700" b="0">
                <a:solidFill>
                  <a:srgbClr val="142A38"/>
                </a:solidFill>
                <a:latin typeface="PingFang SC"/>
              </a:defRPr>
            </a:pPr>
            <a:r>
              <a:t>助学仍然保持最大规模，当前达到 1215 例，但它已经不是唯一增长方向。助教、助评和助育虽然体量较小，却明显向更高复杂度任务延伸。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7536" y="3182112"/>
            <a:ext cx="338328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700" b="0">
                <a:solidFill>
                  <a:srgbClr val="142A38"/>
                </a:solidFill>
                <a:latin typeface="PingFang SC"/>
              </a:defRPr>
            </a:pPr>
            <a:r>
              <a:t>最值得关注的是右上象限：如果某一场景同时具备更高的省份覆盖和学科覆盖，就说明它不仅能做，而且开始在不同教育单元中可复制。当前最接近这一状态的，已经不只是 助学。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365760"/>
            <a:ext cx="7132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二、区域差异正在从“有没有”转向“结构长什么样”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498079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566775"/>
                </a:solidFill>
                <a:latin typeface="PingFang SC"/>
              </a:defRPr>
            </a:pPr>
            <a:r>
              <a:t>把每个区域内部标准化到 100%，就能看清场景结构而不仅是总量大小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207008"/>
            <a:ext cx="672084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ppt_region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444752"/>
            <a:ext cx="6309360" cy="34832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207008"/>
            <a:ext cx="4005072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54112" y="1572768"/>
            <a:ext cx="345643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700" b="0">
                <a:solidFill>
                  <a:srgbClr val="142A38"/>
                </a:solidFill>
                <a:latin typeface="PingFang SC"/>
              </a:defRPr>
            </a:pPr>
            <a:r>
              <a:t>东部依然是绝对主集聚区，但更重要的是，它在助教、助评、助育这些非助学场景中的占比更高，说明它已经开始从规模领先切向结构领先。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112" y="3246120"/>
            <a:ext cx="3456432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700" b="0">
                <a:solidFill>
                  <a:srgbClr val="142A38"/>
                </a:solidFill>
                <a:latin typeface="PingFang SC"/>
              </a:defRPr>
            </a:pPr>
            <a:r>
              <a:t>中西部并非没有 AI，而是更集中在可快速落地、低门槛的场景。换句话说，后发地区当前最显著的任务不是扩大总量，而是推进场景结构升级。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365760"/>
            <a:ext cx="7315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三、不同场景并不是均匀落地，而是各自依附不同教育单元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498079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566775"/>
                </a:solidFill>
                <a:latin typeface="PingFang SC"/>
              </a:defRPr>
            </a:pPr>
            <a:r>
              <a:t>按场景内部归一化后，能看到它们最依赖哪些学段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207008"/>
            <a:ext cx="594360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ppt_stage_scene_p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426464"/>
            <a:ext cx="5522976" cy="33263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84848" y="1207008"/>
            <a:ext cx="4718304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77456" y="1554480"/>
            <a:ext cx="4151376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42A38"/>
                </a:solidFill>
                <a:latin typeface="PingFang SC"/>
              </a:defRPr>
            </a:pPr>
            <a:r>
              <a:t>助学：最集中学段为小学，最集中学科为语文</a:t>
            </a:r>
            <a:br/>
            <a:r>
              <a:t>助教：最集中学段为小学，最集中学科为未提及</a:t>
            </a:r>
            <a:br/>
            <a:r>
              <a:t>助评：最集中学段为小学，最集中学科为未提及</a:t>
            </a:r>
            <a:br/>
            <a:r>
              <a:t>助育：最集中学段为小学，最集中学科为德育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7456" y="5047488"/>
            <a:ext cx="393192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C75C38"/>
                </a:solidFill>
                <a:latin typeface="PingFang SC"/>
              </a:defRPr>
            </a:pPr>
            <a:r>
              <a:t>同一批产品之所以在不同场景里表现不同，关键不在模型本身，而在它落入了哪一个教育组织单元。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365760"/>
            <a:ext cx="722376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四、头部产品已经在不同场景中形成差异化控制力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680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566775"/>
                </a:solidFill>
                <a:latin typeface="PingFang SC"/>
              </a:defRPr>
            </a:pPr>
            <a:r>
              <a:t>热力值不是总频次，而是场景内部占比，因此更能看出“谁在主导这个场景”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207008"/>
            <a:ext cx="736092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ppt_scene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426464"/>
            <a:ext cx="6931152" cy="302450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74736" y="1207008"/>
            <a:ext cx="3328416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572768"/>
            <a:ext cx="2834640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42A38"/>
                </a:solidFill>
                <a:latin typeface="PingFang SC"/>
              </a:defRPr>
            </a:pPr>
            <a:r>
              <a:t>如果某个产品在某个场景中的占比明显高于其他产品，就说明它不只是高频，而是已经形成场景控制力。当前最强的控制力仍主要出现在助学相关场景。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822191"/>
            <a:ext cx="283464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1">
                <a:solidFill>
                  <a:srgbClr val="C75C38"/>
                </a:solidFill>
                <a:latin typeface="PingFang SC"/>
              </a:defRPr>
            </a:pPr>
            <a:r>
              <a:t>最强单点：助研场景中的国家智慧教育平台，场景内占比约100%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475488"/>
            <a:ext cx="585216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五、汇报结论：下一阶段看的是结构升级，而不是简单铺量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35024"/>
            <a:ext cx="10972800" cy="448056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10287000" cy="3154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200" b="0">
                <a:solidFill>
                  <a:srgbClr val="142A38"/>
                </a:solidFill>
                <a:latin typeface="PingFang SC"/>
              </a:defRPr>
            </a:pPr>
            <a:r>
              <a:t>1. 从场景看：AI 教育应用已由“助学单核”转向“助学为主、助教助评助育多核起势”。</a:t>
            </a:r>
            <a:br/>
            <a:br/>
            <a:r>
              <a:t>2. 从区域看：真正的差异已经从总量落差转向结构落差，东部领先更多体现为场景组合更丰富。</a:t>
            </a:r>
            <a:br/>
            <a:br/>
            <a:r>
              <a:t>3. 从产品看：头部产品正在争夺具体场景的控制力，未来胜负手不在通用能力，而在教育场景嵌入深度。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321</Words>
  <Application>Microsoft Macintosh PowerPoint</Application>
  <PresentationFormat>宽屏</PresentationFormat>
  <Paragraphs>35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x206</cp:lastModifiedBy>
  <cp:revision>2</cp:revision>
  <dcterms:created xsi:type="dcterms:W3CDTF">2013-01-27T09:14:16Z</dcterms:created>
  <dcterms:modified xsi:type="dcterms:W3CDTF">2026-03-12T14:41:25Z</dcterms:modified>
  <cp:category/>
</cp:coreProperties>
</file>
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2"/>
  </p:normalViewPr>
  <p:slideViewPr>
    <p:cSldViewPr snapToGrid="0" snapToObjects="1">
      <p:cViewPr varScale="1">
        <p:scale>
          <a:sx n="114" d="100"/>
          <a:sy n="114" d="100"/>
        </p:scale>
        <p:origin x="4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0115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这一页先交代口径和结论框架。当前 V6 一共包含 1690 个去重案例、3815 条工具记录。我的核心判断是，AI 教育应用已经不是简单的助学独大，而是进入了场景分化、区域分化和产品分化同步发生的新阶段。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这张图最值得讲的，不是 助学 最大，而是它虽然占了 72.1%，却已经不能代表全部趋势。前两大场景合计 90.0%，说明行业正在出现主航道；与此同时，助评、助育等更复杂场景在覆盖广度上抬升，说明 AI 教育应用开始从学生支持走向教学系统深处。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这一页要讲清三层意思。第一，浙江省、四川省、重庆市和北京市四省市合计占比达到54.1%，头部区域板块已经成形。第二，东部不只是案例多，而是豆包（250次）、DeepSeek 大模型（179次）、即梦AI（103次）形成了更高阶的组合结构；第三，中部更像平台化推进，西部更像头部产品导入期。所以区域差异的本质不是有没有接入 AI，而是谁先形成了稳定、可复制、可扩展的产品组合。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这一页强调的不是哪个学段多，而是每个场景在依附哪个教育单元。如果一个场景对某一学段和某一学科的依赖特别高，就说明它还处在强绑定阶段；只有这种依赖逐步下降，这个场景才可能真正泛化。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最后这一页要讲的不是品牌热度，而是控制力分化。目前最强单点关系出现在 助研 场景中的 国家智慧教育平台，占比约 100%；但 助学 这样的场景头部占比只有约 37%，仍是开放竞争。这意味着真正的胜负手不是谁更红，而是谁先在关键教育场景中形成不可替代的位置。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最后要把判断收住。接下来不应再只看案例数增长，而要看三件事：主航道之外的新场景能否继续抬升，中西部能否从导入走向稳定的平台化与生态化，以及头部产品能否在关键教育场景中建立长期控制力。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2234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621792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800" b="1">
                <a:solidFill>
                  <a:srgbClr val="142A38"/>
                </a:solidFill>
                <a:latin typeface="PingFang SC"/>
              </a:defRPr>
            </a:pPr>
            <a:r>
              <a:t>Section 2.2 教育应用现状综述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969264"/>
            <a:ext cx="658368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400" b="0">
                <a:solidFill>
                  <a:srgbClr val="566775"/>
                </a:solidFill>
                <a:latin typeface="PingFang SC"/>
              </a:defRPr>
            </a:pPr>
            <a:r>
              <a:t>当前 Word 2.2 结论同步升级为公开宣讲版：观点更锋利，证据更集中，落点更适合大型场合表达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1170432" cy="100584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883664"/>
            <a:ext cx="153619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100" b="0">
                <a:solidFill>
                  <a:srgbClr val="566775"/>
                </a:solidFill>
                <a:latin typeface="PingFang SC"/>
              </a:defRPr>
            </a:pPr>
            <a:r>
              <a:t>案例数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48840"/>
            <a:ext cx="1536192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200" b="1">
                <a:solidFill>
                  <a:srgbClr val="C75C38"/>
                </a:solidFill>
                <a:latin typeface="PingFang SC"/>
              </a:defRPr>
            </a:pPr>
            <a:r>
              <a:t>1690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82689" y="1737360"/>
            <a:ext cx="1170432" cy="100584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28993" y="1883664"/>
            <a:ext cx="1536192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100" b="0">
                <a:solidFill>
                  <a:srgbClr val="566775"/>
                </a:solidFill>
                <a:latin typeface="PingFang SC"/>
              </a:defRPr>
            </a:pPr>
            <a:r>
              <a:t>工具记录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8993" y="2148840"/>
            <a:ext cx="1536192" cy="38404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2200" b="1">
                <a:solidFill>
                  <a:srgbClr val="727E54"/>
                </a:solidFill>
                <a:latin typeface="PingFang SC"/>
              </a:defRPr>
            </a:pPr>
            <a:r>
              <a:t>3815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7013" y="1737360"/>
            <a:ext cx="1253843" cy="100584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53317" y="1883664"/>
            <a:ext cx="1536192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100" b="0">
                <a:solidFill>
                  <a:srgbClr val="566775"/>
                </a:solidFill>
                <a:latin typeface="PingFang SC"/>
              </a:defRPr>
            </a:pPr>
            <a:r>
              <a:t>标准化产品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3317" y="2148840"/>
            <a:ext cx="1536192" cy="38404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2200" b="1">
                <a:solidFill>
                  <a:srgbClr val="C75C38"/>
                </a:solidFill>
                <a:latin typeface="PingFang SC"/>
              </a:defRPr>
            </a:pPr>
            <a:r>
              <a:t>1772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7084" y="1737360"/>
            <a:ext cx="1253843" cy="100584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33388" y="1883664"/>
            <a:ext cx="1053228" cy="256032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100" b="0">
                <a:solidFill>
                  <a:srgbClr val="566775"/>
                </a:solidFill>
                <a:latin typeface="PingFang SC"/>
              </a:defRPr>
            </a:pPr>
            <a:r>
              <a:t>覆盖省份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3388" y="2148840"/>
            <a:ext cx="1536192" cy="38404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2200" b="1">
                <a:solidFill>
                  <a:srgbClr val="727E54"/>
                </a:solidFill>
                <a:latin typeface="PingFang SC"/>
              </a:defRPr>
            </a:pPr>
            <a:r>
              <a:t>29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54096"/>
            <a:ext cx="6043515" cy="2633472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7494" y="3506834"/>
            <a:ext cx="5669280" cy="17373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>
              <a:defRPr sz="1700" b="0">
                <a:solidFill>
                  <a:srgbClr val="142A38"/>
                </a:solidFill>
                <a:latin typeface="PingFang SC"/>
              </a:defRPr>
            </a:pPr>
            <a:r>
              <a:rPr dirty="0" err="1"/>
              <a:t>这份汇报要回答的不是“AI</a:t>
            </a:r>
            <a:r>
              <a:rPr dirty="0"/>
              <a:t> </a:t>
            </a:r>
            <a:r>
              <a:rPr dirty="0" err="1"/>
              <a:t>有没有进校园</a:t>
            </a:r>
            <a:r>
              <a:rPr dirty="0"/>
              <a:t>”，</a:t>
            </a:r>
            <a:r>
              <a:rPr dirty="0" err="1"/>
              <a:t>而是三件更重要的事</a:t>
            </a:r>
            <a:r>
              <a:rPr dirty="0"/>
              <a:t>：</a:t>
            </a:r>
            <a:br>
              <a:rPr dirty="0"/>
            </a:br>
            <a:r>
              <a:rPr dirty="0"/>
              <a:t>1. </a:t>
            </a:r>
            <a:r>
              <a:rPr dirty="0" err="1"/>
              <a:t>为什么七成以上案例仍集中在助学，但我们已经不能只讲助学</a:t>
            </a:r>
            <a:r>
              <a:rPr dirty="0"/>
              <a:t>？</a:t>
            </a:r>
            <a:br>
              <a:rPr dirty="0"/>
            </a:br>
            <a:r>
              <a:rPr dirty="0"/>
              <a:t>2. </a:t>
            </a:r>
            <a:r>
              <a:rPr dirty="0" err="1"/>
              <a:t>为什么区域差异的本质，不是有没有接入，而是谁先形成了稳定的产品组合</a:t>
            </a:r>
            <a:r>
              <a:rPr dirty="0"/>
              <a:t>？</a:t>
            </a:r>
            <a:br>
              <a:rPr dirty="0"/>
            </a:br>
            <a:r>
              <a:rPr dirty="0"/>
              <a:t>3. </a:t>
            </a:r>
            <a:r>
              <a:rPr dirty="0" err="1"/>
              <a:t>为什么下一阶段真正的竞争，不在模型热度，而在教育场景控制力</a:t>
            </a:r>
            <a:r>
              <a:rPr dirty="0"/>
              <a:t>？</a:t>
            </a:r>
          </a:p>
        </p:txBody>
      </p:sp>
      <p:pic>
        <p:nvPicPr>
          <p:cNvPr id="19" name="Picture 18" descr="fig_a04_scenario_tree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187" y="1639035"/>
            <a:ext cx="5113131" cy="42043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365760"/>
            <a:ext cx="768096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t>一、真正的变化不是场景变多，而是主航道已经收敛出来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7498079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566775"/>
                </a:solidFill>
                <a:latin typeface="PingFang SC"/>
              </a:defRPr>
            </a:pPr>
            <a:r>
              <a:t>横轴看覆盖省份数，纵轴看涉及学科数，气泡大小看场景案例规模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207008"/>
            <a:ext cx="6583680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ppt_scene_bub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444752"/>
            <a:ext cx="6172200" cy="39862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43216" y="1207008"/>
            <a:ext cx="4069080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17536" y="1481328"/>
            <a:ext cx="3520440" cy="1600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42A38"/>
                </a:solidFill>
                <a:latin typeface="PingFang SC"/>
              </a:defRPr>
            </a:pPr>
            <a:r>
              <a:t>助学单一场景就占到 72.1%，而助学+助教合计达到 90.0%。这说明行业已经不是“六路并进”，而是从泛试点走向主航道收敛。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7536" y="3310128"/>
            <a:ext cx="338328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42A38"/>
                </a:solidFill>
                <a:latin typeface="PingFang SC"/>
              </a:defRPr>
            </a:pPr>
            <a:r>
              <a:t>但收敛不等于单一。助教、助评、助育虽然体量小，却在省份覆盖与学科覆盖上持续抬升，意味着更高复杂度的教学系统场景正在进入可复制阶段。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365760"/>
            <a:ext cx="1088136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rPr dirty="0" err="1"/>
              <a:t>二、区域空间格局已经呈现“东部生态化、中部平台化、西部导入期</a:t>
            </a:r>
            <a:r>
              <a:rPr dirty="0"/>
              <a:t>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85953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566775"/>
                </a:solidFill>
                <a:latin typeface="PingFang SC"/>
              </a:defRPr>
            </a:pPr>
            <a:r>
              <a:t>直接复用 Word 2.2.2 的当前论证链：省域分布地图负责看总量，区域×产品热力图负责看组合结构</a:t>
            </a:r>
          </a:p>
        </p:txBody>
      </p:sp>
      <p:pic>
        <p:nvPicPr>
          <p:cNvPr id="6" name="Picture 5" descr="fig_a01_provinc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68396"/>
            <a:ext cx="5029200" cy="4915567"/>
          </a:xfrm>
          <a:prstGeom prst="rect">
            <a:avLst/>
          </a:prstGeom>
        </p:spPr>
      </p:pic>
      <p:pic>
        <p:nvPicPr>
          <p:cNvPr id="8" name="Picture 7" descr="fig_a06_region_produ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5184648"/>
            <a:ext cx="5029200" cy="211226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27648" y="1188720"/>
            <a:ext cx="5175504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01968" y="2121408"/>
            <a:ext cx="4572000" cy="10789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0">
                <a:solidFill>
                  <a:srgbClr val="142A38"/>
                </a:solidFill>
                <a:latin typeface="PingFang SC"/>
              </a:defRPr>
            </a:pPr>
            <a:r>
              <a:t>1. 头部板块已经非常集中。浙江省、四川省、重庆市和北京市四省市合计占全部案例的54.1%，这意味着全国应用并不是均匀铺开，而是由少数头部区域牵引。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3438144"/>
            <a:ext cx="4572000" cy="932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0">
                <a:solidFill>
                  <a:srgbClr val="142A38"/>
                </a:solidFill>
                <a:latin typeface="PingFang SC"/>
              </a:defRPr>
            </a:pPr>
            <a:r>
              <a:t>2. 东部的领先不是“多一点”，而是已经进入生态化组合。东部样本 1004 例，且豆包（250次）、DeepSeek 大模型（179次）、即梦AI（103次）三者就构成了78.1%的头部产品集中度。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4572000"/>
            <a:ext cx="4572000" cy="12252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0">
                <a:solidFill>
                  <a:srgbClr val="142A38"/>
                </a:solidFill>
                <a:latin typeface="PingFang SC"/>
              </a:defRPr>
            </a:pPr>
            <a:r>
              <a:t>3. 中西部的差别也很清楚。中部更像平台化稳步推进，豆包（51次）、DeepSeek 大模型（25次）、即梦AI（18次）三者集中度为71.2%；西部则更像头部产品导入期，豆包（117次）、DeepSeek 大模型（87次）、即梦AI（54次）三者集中度达到73.9%。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365760"/>
            <a:ext cx="78638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t>三、场景不是平均落地，而是深度绑定不同教育单元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7498079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566775"/>
                </a:solidFill>
                <a:latin typeface="PingFang SC"/>
              </a:defRPr>
            </a:pPr>
            <a:r>
              <a:t>按场景内部归一化后，能看到它们最依赖哪些学段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207008"/>
            <a:ext cx="5943600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ppt_stage_scene_p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68" y="1905069"/>
            <a:ext cx="5522976" cy="33263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84848" y="1207008"/>
            <a:ext cx="4718304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77456" y="1554480"/>
            <a:ext cx="4151376" cy="3383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42A38"/>
                </a:solidFill>
                <a:latin typeface="PingFang SC"/>
              </a:defRPr>
            </a:pPr>
            <a:r>
              <a:t>助学：小学占55%，语文占17%</a:t>
            </a:r>
            <a:br/>
            <a:r>
              <a:t>助教：小学占45%，未提及占39%</a:t>
            </a:r>
            <a:br/>
            <a:r>
              <a:t>助评：小学占68%，未提及占62%</a:t>
            </a:r>
            <a:br/>
            <a:r>
              <a:t>助育：小学占50%，德育占16%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7456" y="4919472"/>
            <a:ext cx="393192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C75C38"/>
                </a:solidFill>
                <a:latin typeface="PingFang SC"/>
              </a:defRPr>
            </a:pPr>
            <a:r>
              <a:rPr dirty="0" err="1"/>
              <a:t>这页真正要讲的是：同一模型进入不同场景后，决定它效果上限的往往不是模型参数，而是它嵌入了哪个教育组织单元</a:t>
            </a:r>
            <a:r>
              <a:rPr dirty="0"/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365760"/>
            <a:ext cx="7498079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t>四、产品竞争已经从“谁更热”升级为“谁能控制关键场景”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7680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200" b="0">
                <a:solidFill>
                  <a:srgbClr val="566775"/>
                </a:solidFill>
                <a:latin typeface="PingFang SC"/>
              </a:defRPr>
            </a:pPr>
            <a:r>
              <a:t>热力值不是总频次，而是场景内部占比，因此更能看出“谁在主导这个场景”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207008"/>
            <a:ext cx="7360920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fig_ppt_scene_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2172780"/>
            <a:ext cx="6931152" cy="302450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74736" y="1207008"/>
            <a:ext cx="3328416" cy="507492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572768"/>
            <a:ext cx="283464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600" b="0">
                <a:solidFill>
                  <a:srgbClr val="142A38"/>
                </a:solidFill>
                <a:latin typeface="PingFang SC"/>
              </a:defRPr>
            </a:pPr>
            <a:r>
              <a:t>这一页最重要的不是谁排第一，而是控制力已经开始分层。最强单点仍在助学相关场景，但也有场景的头部占比只有约37%，说明仍处开放竞争状态。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822191"/>
            <a:ext cx="283464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500" b="1">
                <a:solidFill>
                  <a:srgbClr val="C75C38"/>
                </a:solidFill>
                <a:latin typeface="PingFang SC"/>
              </a:defRPr>
            </a:pPr>
            <a:r>
              <a:rPr dirty="0"/>
              <a:t>最强单点：助研场景中的国家智慧教育平台，场景内占比约100%</a:t>
            </a:r>
            <a:br>
              <a:rPr dirty="0"/>
            </a:br>
            <a:r>
              <a:rPr dirty="0"/>
              <a:t>最开放场景：助学，头部占比约37%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475488"/>
            <a:ext cx="5852160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400" b="1">
                <a:solidFill>
                  <a:srgbClr val="142A38"/>
                </a:solidFill>
                <a:latin typeface="PingFang SC"/>
              </a:defRPr>
            </a:pPr>
            <a:r>
              <a:t>五、汇报结论：下一阶段看的是结构升级，而不是简单铺量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35024"/>
            <a:ext cx="10972800" cy="4480560"/>
          </a:xfrm>
          <a:prstGeom prst="roundRect">
            <a:avLst/>
          </a:prstGeom>
          <a:solidFill>
            <a:srgbClr val="FFFCF7"/>
          </a:solidFill>
          <a:ln w="12700">
            <a:solidFill>
              <a:srgbClr val="E1D8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10287000" cy="3154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2200" b="0">
                <a:solidFill>
                  <a:srgbClr val="142A38"/>
                </a:solidFill>
                <a:latin typeface="PingFang SC"/>
              </a:defRPr>
            </a:pPr>
            <a:r>
              <a:t>1. 从场景看：教育 AI 已从泛试点进入主航道收敛阶段，助学与助教构成最清晰的两条主线。</a:t>
            </a:r>
            <a:br/>
            <a:br/>
            <a:r>
              <a:t>2. 从区域看：全国格局并非均匀扩散，而是少数头部区域先形成产品组合与应用路径，东部生态化、中部平台化、西部导入期的分层已经出现。</a:t>
            </a:r>
            <a:br/>
            <a:br/>
            <a:r>
              <a:t>3. 从产品看：下一阶段真正决定胜负的，不是模型热度，而是谁能在关键教育场景里形成稳定控制力。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490</Words>
  <Application>Microsoft Macintosh PowerPoint</Application>
  <PresentationFormat>宽屏</PresentationFormat>
  <Paragraphs>36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x206</cp:lastModifiedBy>
  <cp:revision>3</cp:revision>
  <dcterms:created xsi:type="dcterms:W3CDTF">2013-01-27T09:14:16Z</dcterms:created>
  <dcterms:modified xsi:type="dcterms:W3CDTF">2026-03-13T01:00:04Z</dcterms:modified>
  <cp:category/>
</cp:coreProperties>
</file>
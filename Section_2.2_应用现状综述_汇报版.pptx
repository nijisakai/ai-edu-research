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Microsoft YaHei"/>
              </a:defRPr>
            </a:pPr>
            <a:r>
              <a:t>2.2 教育应用类产品应用现状综述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数据口径：V6.xlsx · 按文件名去重后 1690 个独立案例 · 875 个标准化产品 · 覆盖 29 个省份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六大应用场景概览</a:t>
            </a:r>
          </a:p>
        </p:txBody>
      </p:sp>
      <p:pic>
        <p:nvPicPr>
          <p:cNvPr id="3" name="Picture 2" descr="fig_s22_scen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217920" cy="3373216"/>
          </a:xfrm>
          <a:prstGeom prst="rect">
            <a:avLst/>
          </a:prstGeom>
        </p:spPr>
      </p:pic>
      <p:pic>
        <p:nvPicPr>
          <p:cNvPr id="4" name="Picture 3" descr="fig_s22_scene_tre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31520"/>
            <a:ext cx="5303520" cy="3117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• 助学场景占比 71.9%，是最核心应用方向</a:t>
            </a:r>
            <a:br/>
            <a:r>
              <a:t>• 助教（301例）、助评（63例）构成第二梯队</a:t>
            </a:r>
            <a:br/>
            <a:r>
              <a:t>• 助育、助管、助研等长尾场景已形成明确功能切口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学段与学科分布</a:t>
            </a:r>
          </a:p>
        </p:txBody>
      </p:sp>
      <p:pic>
        <p:nvPicPr>
          <p:cNvPr id="3" name="Picture 2" descr="fig_s22_stag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760720" cy="3303033"/>
          </a:xfrm>
          <a:prstGeom prst="rect">
            <a:avLst/>
          </a:prstGeom>
        </p:spPr>
      </p:pic>
      <p:pic>
        <p:nvPicPr>
          <p:cNvPr id="4" name="Picture 3" descr="fig_s22_subject_lollip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85800"/>
            <a:ext cx="5669280" cy="3540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• 小学是最主要落地学段（884例） • 语文是最高频学科（250例） • 多学科扩散趋势已显现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Microsoft YaHei"/>
              </a:defRPr>
            </a:pPr>
            <a:r>
              <a:t>多因素交叉分析：学段×场景 &amp; 学科×场景</a:t>
            </a:r>
          </a:p>
        </p:txBody>
      </p:sp>
      <p:pic>
        <p:nvPicPr>
          <p:cNvPr id="3" name="Picture 2" descr="fig_s22_stage_scen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760720" cy="5085858"/>
          </a:xfrm>
          <a:prstGeom prst="rect">
            <a:avLst/>
          </a:prstGeom>
        </p:spPr>
      </p:pic>
      <p:pic>
        <p:nvPicPr>
          <p:cNvPr id="4" name="Picture 3" descr="fig_s22_subject_scen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85800"/>
            <a:ext cx="5669280" cy="5047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• 助学场景集中在小学学段 • 助教场景集中在小学学段 • 助评场景集中在小学学段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icrosoft YaHei"/>
              </a:defRPr>
            </a:pPr>
            <a:r>
              <a:t>产品分类 × 场景 &amp; 产品属性 × 场景 &amp; 大模型对比</a:t>
            </a:r>
          </a:p>
        </p:txBody>
      </p:sp>
      <p:pic>
        <p:nvPicPr>
          <p:cNvPr id="3" name="Picture 2" descr="fig_s22_product_type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5800"/>
            <a:ext cx="3931920" cy="2880346"/>
          </a:xfrm>
          <a:prstGeom prst="rect">
            <a:avLst/>
          </a:prstGeom>
        </p:spPr>
      </p:pic>
      <p:pic>
        <p:nvPicPr>
          <p:cNvPr id="4" name="Picture 3" descr="fig_s22_product_attr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685800"/>
            <a:ext cx="3931920" cy="1938764"/>
          </a:xfrm>
          <a:prstGeom prst="rect">
            <a:avLst/>
          </a:prstGeom>
        </p:spPr>
      </p:pic>
      <p:pic>
        <p:nvPicPr>
          <p:cNvPr id="5" name="Picture 4" descr="fig_s22_llm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685800"/>
            <a:ext cx="3749039" cy="18485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• 平台型系统主导所有场景 • AI智能体占据最大份额 • 大模型渗透率 20.4%，助学场景最高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YaHei"/>
              </a:defRPr>
            </a:pPr>
            <a:r>
              <a:t>综合判断</a:t>
            </a:r>
          </a:p>
        </p:txBody>
      </p:sp>
      <p:pic>
        <p:nvPicPr>
          <p:cNvPr id="3" name="Picture 2" descr="fig_s22_provinc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486400" cy="31401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8580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核心洞见</a:t>
            </a:r>
            <a:br/>
            <a:br/>
            <a:r>
              <a:t>1. 应用主阵地：小学学段 + 语文学科，但多学科扩散趋势已现</a:t>
            </a:r>
            <a:br/>
            <a:br/>
            <a:r>
              <a:t>2. 场景分化：从"助学独大"（71.9%）向助教、助评、助育多线并行演化</a:t>
            </a:r>
            <a:br/>
            <a:br/>
            <a:r>
              <a:t>3. 产品形态：平台型 + SaaS 是主体，AI智能体是最主要产品属性</a:t>
            </a:r>
            <a:br/>
            <a:br/>
            <a:r>
              <a:t>4. 技术路径：大模型渗透率 20.4%，在助学场景最为突出</a:t>
            </a:r>
            <a:br/>
            <a:br/>
            <a:r>
              <a:t>5. 地域格局：浙江省以 446 例领跑，头部省份持续扩大应用规模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
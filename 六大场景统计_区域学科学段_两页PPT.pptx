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latin typeface="PingFang SC"/>
              </a:defRPr>
            </a:pPr>
            <a:r>
              <a:t>六大场景统计：区域分布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PingFang SC"/>
              </a:defRPr>
            </a:pPr>
            <a:r>
              <a:t>数据口径：V6.xlsx 案例级去重样本 1690 例；场景按一级分类统计</a:t>
            </a:r>
          </a:p>
        </p:txBody>
      </p:sp>
      <p:pic>
        <p:nvPicPr>
          <p:cNvPr id="4" name="Picture 3" descr="fig_section22_region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498079" cy="3953533"/>
          </a:xfrm>
          <a:prstGeom prst="rect">
            <a:avLst/>
          </a:prstGeom>
        </p:spPr>
      </p:pic>
      <p:pic>
        <p:nvPicPr>
          <p:cNvPr id="5" name="Picture 4" descr="fig_section22_scene_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024128"/>
            <a:ext cx="3611880" cy="19770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4663440"/>
            <a:ext cx="3611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latin typeface="PingFang SC"/>
              </a:defRPr>
            </a:pPr>
            <a:r>
              <a:t>1. 东部承载 61.6% 的场景案例总量，是六大场景共同的主集聚区。</a:t>
            </a:r>
            <a:br/>
            <a:r>
              <a:t>2. 场景总体仍以助学为主，案例数 1215。</a:t>
            </a:r>
            <a:br/>
            <a:r>
              <a:t>3. 中西部已在助教、助评、助育等场景形成可见扩散，不再只是单一助学渗透。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latin typeface="PingFang SC"/>
              </a:defRPr>
            </a:pPr>
            <a:r>
              <a:t>六大场景统计：学段与学科分布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PingFang SC"/>
              </a:defRPr>
            </a:pPr>
            <a:r>
              <a:t>左侧为学段×场景热力图，右侧为 Top10 学科×场景热力图</a:t>
            </a:r>
          </a:p>
        </p:txBody>
      </p:sp>
      <p:pic>
        <p:nvPicPr>
          <p:cNvPr id="4" name="Picture 3" descr="fig_section22_stage_scen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5669280" cy="4185730"/>
          </a:xfrm>
          <a:prstGeom prst="rect">
            <a:avLst/>
          </a:prstGeom>
        </p:spPr>
      </p:pic>
      <p:pic>
        <p:nvPicPr>
          <p:cNvPr id="5" name="Picture 4" descr="fig_section22_subject_scen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14400"/>
            <a:ext cx="5440680" cy="40169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latin typeface="PingFang SC"/>
              </a:defRPr>
            </a:pPr>
            <a:r>
              <a:t>- 助学最集中学段：小学；最集中学科：语文</a:t>
            </a:r>
            <a:br/>
            <a:r>
              <a:t>- 助教最集中学段：小学；最集中学科：语文</a:t>
            </a:r>
            <a:br/>
            <a:r>
              <a:t>- 助评最集中学段：小学；最集中学科：语文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5806440"/>
            <a:ext cx="5440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latin typeface="PingFang SC"/>
              </a:defRPr>
            </a:pPr>
            <a:r>
              <a:t>- 助育最集中学段：小学；最集中学科：美术</a:t>
            </a:r>
            <a:br/>
            <a:r>
              <a:t>- 助管最集中学段：小学；最集中学科：未提及</a:t>
            </a:r>
            <a:br/>
            <a:r>
              <a:t>- 助研最集中学段：小学；最集中学科：语文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